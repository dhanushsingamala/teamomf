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9464040" y="-182879"/>
            <a:ext cx="2834640" cy="2834640"/>
          </a:xfrm>
          <a:prstGeom prst="ellipse">
            <a:avLst/>
          </a:prstGeom>
          <a:solidFill>
            <a:srgbClr val="1A1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Oval 4"/>
          <p:cNvSpPr/>
          <p:nvPr/>
        </p:nvSpPr>
        <p:spPr>
          <a:xfrm>
            <a:off x="10607040" y="4114800"/>
            <a:ext cx="2011680" cy="2011680"/>
          </a:xfrm>
          <a:prstGeom prst="ellipse">
            <a:avLst/>
          </a:prstGeom>
          <a:solidFill>
            <a:srgbClr val="132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Oval 5"/>
          <p:cNvSpPr/>
          <p:nvPr/>
        </p:nvSpPr>
        <p:spPr>
          <a:xfrm>
            <a:off x="9646920" y="2880360"/>
            <a:ext cx="1371600" cy="1371600"/>
          </a:xfrm>
          <a:prstGeom prst="ellipse">
            <a:avLst/>
          </a:prstGeom>
          <a:noFill/>
          <a:ln w="15875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9933"/>
                </a:solidFill>
                <a:latin typeface="Segoe UI"/>
              </a:rPr>
              <a:t>TEAMOMF  · 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8503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TEAMOMF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Developer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913632"/>
            <a:ext cx="2194560" cy="4572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9CFEA"/>
                </a:solidFill>
                <a:latin typeface="Segoe UI"/>
              </a:rPr>
              <a:t>An introduction to Backstage,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900" b="0" i="0">
                <a:solidFill>
                  <a:srgbClr val="C9CFEA"/>
                </a:solidFill>
                <a:latin typeface="Segoe UI"/>
              </a:rPr>
              <a:t>and to the platform we built on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71500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Dhanush Singamala - Platform Engineering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8F98C4"/>
                </a:solidFill>
                <a:latin typeface="Segoe UI"/>
              </a:rPr>
              <a:t>September 2026  ·  Backstage 1.54.0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What this deck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Twenty-five minutes, then questions. Nothing here is theoretical - everything shown is running.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10271455" cy="405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0080"/>
                </a:solidFill>
                <a:latin typeface="Segoe UI"/>
              </a:rPr>
              <a:t>The problem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Why engineering knowledge keeps going missing, and what it costs us.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550" b="1" i="0">
                <a:solidFill>
                  <a:srgbClr val="000080"/>
                </a:solidFill>
                <a:latin typeface="Segoe UI"/>
              </a:rPr>
              <a:t>Backstage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The four pillars: catalog, templates, TechDocs, search - and why it is a framework, not a product.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550" b="1" i="0">
                <a:solidFill>
                  <a:srgbClr val="000080"/>
                </a:solidFill>
                <a:latin typeface="Segoe UI"/>
              </a:rPr>
              <a:t>The TEAMOMF portal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What we have built: sign-in, personas, the catalog, three golden paths, our reference service.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550" b="1" i="0">
                <a:solidFill>
                  <a:srgbClr val="000080"/>
                </a:solidFill>
                <a:latin typeface="Segoe UI"/>
              </a:rPr>
              <a:t>Using it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What to do in your first hour, by persona.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550" b="1" i="0">
                <a:solidFill>
                  <a:srgbClr val="000080"/>
                </a:solidFill>
                <a:latin typeface="Segoe UI"/>
              </a:rPr>
              <a:t>What comes next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Where this is honestly incomplete, and where it goes.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Three unreliable places where engineering knowledge lives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What it costs us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None of this is anyone's fault. It is what happens by default.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29968"/>
            <a:ext cx="5190591" cy="1897379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029968"/>
            <a:ext cx="50292" cy="1897379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9848" y="2231136"/>
            <a:ext cx="4687671" cy="153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Ownership is unclear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When something breaks, the first ten minutes go into working out whose service it 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3863" y="2029968"/>
            <a:ext cx="5190591" cy="1897379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23863" y="2029968"/>
            <a:ext cx="50292" cy="1897379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6471" y="2231136"/>
            <a:ext cx="4687671" cy="153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Onboarding is slow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A new engineer cannot answer "what do we run, and where is the code?" without interrupting three people.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83379"/>
            <a:ext cx="5190591" cy="1897379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77240" y="4183379"/>
            <a:ext cx="50292" cy="1897379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9848" y="4384547"/>
            <a:ext cx="4687671" cy="153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Every service is bespoke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The fifth service gets a different layout, health check and CI file from the first four, because each was started by hand.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4183379"/>
            <a:ext cx="5190591" cy="1897379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23863" y="4183379"/>
            <a:ext cx="50292" cy="1897379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16471" y="4384547"/>
            <a:ext cx="4687671" cy="153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Documentation drifts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It lives away from the code, is never part of the review, and was last accurate eight months ago.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933"/>
                </a:solidFill>
                <a:latin typeface="Segoe U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An internal developer portal makes one place authoritative — and makes doing the right thing the fastest option available.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0E4"/>
                </a:solidFill>
                <a:latin typeface="Segoe UI"/>
              </a:rPr>
              <a:t>That is the whole bet. Everything that follows is mechanics.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What Backstage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An open-source portal framework from Spotify, now a CNCF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BACKSTAGE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Four pillars carry almost all of the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Everything else in Backstage is a plugin - which is exactly how we added TEAMOMF login and TEAMOMF permissions without forking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31136"/>
            <a:ext cx="5190591" cy="1796795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231136"/>
            <a:ext cx="50292" cy="1796795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9848" y="2432304"/>
            <a:ext cx="4687671" cy="1431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Software Catalog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One inventory of every service, API, resource, team and person, described by a catalog-info.yaml that lives next to the code it describes. Ownership stops being tribal knowledge.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3863" y="2231136"/>
            <a:ext cx="5190591" cy="1796795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23863" y="2231136"/>
            <a:ext cx="50292" cy="1796795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6471" y="2432304"/>
            <a:ext cx="4687671" cy="1431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Software Templates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The scaffolder. A parameterised wizard that generates a repository from a reviewed skeleton, pushes it to GitHub and registers it in the catalog. This is how a golden path is enforced instead of documented.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83964"/>
            <a:ext cx="5190591" cy="1796795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77240" y="4283964"/>
            <a:ext cx="50292" cy="1796795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9848" y="4485132"/>
            <a:ext cx="4687671" cy="1431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TechDocs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Docs-as-code. Markdown and mkdocs.yml sit in the service repository; the portal builds and serves them, so documentation is versioned with the code and reviewed in the same pull request.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4283964"/>
            <a:ext cx="5190591" cy="1796795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23863" y="4283964"/>
            <a:ext cx="50292" cy="1796795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16471" y="4485132"/>
            <a:ext cx="4687671" cy="1431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Search &amp; Plugins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Catalog and TechDocs are indexed into one search box. Everything else in Backstage is a plugin, front-end and back-end alike, which is how we added TEAMOMF login and TEAMOMF permissions without forking.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BACKSTAGE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The catalog is the centre of gravity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10637215" cy="3346704"/>
          </a:xfrm>
          <a:prstGeom prst="rect">
            <a:avLst/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54864" cy="3346704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10088575" cy="2889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Group  ──owns──▶  Component ──providesApis──▶  API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  ▲                   │                          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  │                   ├──part of──▶  System  ◀───┘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memberOf              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  │                   └──techdocs-ref──▶  TechDocs site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User                  └──project-slug──▶  GitHub repo + Actions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 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Template ──creates──▶  GitHub repo ──registers──▶  Component + API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3FF"/>
                </a:solidFill>
                <a:latin typeface="Consolas"/>
              </a:rPr>
              <a:t>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755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273"/>
                </a:solidFill>
                <a:latin typeface="Segoe UI"/>
              </a:rPr>
              <a:t>Every arrow is a real annotation or spec field in a catalog-info.yaml, not a diagram convention. Templates write into the catalog, TechDocs hangs off it, search indexes it, and permissions are decided from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933"/>
                </a:solidFill>
                <a:latin typeface="Segoe UI"/>
              </a:rPr>
              <a:t>THE RULE THAT MAKES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The catalog-info.yaml lives in the repository it describes. The portal reads it — it never becomes the source of truth.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0E4"/>
                </a:solidFill>
                <a:latin typeface="Segoe UI"/>
              </a:rPr>
              <a:t>That is why the catalog does not drift: updating it is part of the same pull request as the change it describes.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TEAMOMF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What we have actually built, and the decisions behind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Where we are today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499616"/>
          <a:ext cx="10637214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741"/>
                <a:gridCol w="8182473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Backstage version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1.54.0 - current release line, new frontend and backend systems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Sign-in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TEAMOMF username and password, backed by a local credential store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Authorization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Five personas driven by real catalog Group membership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Catalog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TEAMOMF Platform system, Orders Service, its REST API, 7 Groups, real people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Templates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3 golden paths, each creating a real GitHub repository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Docs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TechDocs generated from MkDocs and served in the portal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Search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Catalog and TechDocs indexed into one search box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File-backed SQLite locally; PostgreSQL configured for production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Theme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 custom TEAMOMF theme replacing the stock Backstage look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Tests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6 unit suites in our plugin, a frontend test, a Playwright e2e test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933"/>
                </a:solidFill>
                <a:latin typeface="Segoe UI"/>
              </a:rPr>
              <a:t>A DELIBERATE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Every entity, person and template in this portal is real. The Backstage sample data is explicitly not registered.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0E4"/>
                </a:solidFill>
                <a:latin typeface="Segoe UI"/>
              </a:rPr>
              <a:t>It means the catalog looks sparse today — and that is the honest picture. A portal full of placeholder services is worse than a small true one, because nobody trusts it twice.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Repository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Where to look when you need to change something.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011680"/>
          <a:ext cx="10637214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288"/>
                <a:gridCol w="7036926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Path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What lives there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packages/app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React frontend. TEAMOMF sign-in page, sidebar, theme and home widgets.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packages/backend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Backend assembly. One file that composes ~20 Backstage plugins plus ours.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plugins/teamomf-credentials-backend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Our plugin: credential store, login endpoint, auth provider, permission policy, provisioning CLI.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catalog/teamomf-org.yaml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The org chart: 7 Groups and the real people in them.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catalog/teamomf-systems.yaml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The TEAMOMF Platform system.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templates/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Three software templates, each with a full working skeleton.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11633"/>
                          </a:solidFill>
                          <a:latin typeface="Consolas"/>
                        </a:rPr>
                        <a:t>teamomf-orders-service/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Reference service: the pattern the templates encode.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app-config.yaml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Portal configuration: home layout, catalog locations, personas.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scripts/teamomf-user.js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Launcher for `yarn teamomf:user`.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Three moving parts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17904"/>
            <a:ext cx="3375050" cy="228600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1517904"/>
            <a:ext cx="50292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9848" y="1719072"/>
            <a:ext cx="287213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Frontend — packages/app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Custom sign-in page, an eleven-widget home page, TEAMOMF sidebar and theme, plus the stock catalog, scaffolder, TechDocs and search UIs.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8322" y="1517904"/>
            <a:ext cx="3375050" cy="228600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08322" y="1517904"/>
            <a:ext cx="50292" cy="228600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00930" y="1719072"/>
            <a:ext cx="287213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Backend — packages/backend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One file composes the whole backend: catalog, scaffolder, TechDocs, auth, permissions, search, notifications, Kubernetes, MCP 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9404" y="1517904"/>
            <a:ext cx="3375050" cy="228600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39404" y="1517904"/>
            <a:ext cx="50292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32012" y="1719072"/>
            <a:ext cx="287213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Our plugin — teamomf-credentials-backend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Credential store and login endpoint, the "teamomf" auth provider, the persona permission policy, and the provisioning CLI.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933"/>
                </a:solidFill>
                <a:latin typeface="Segoe UI"/>
              </a:rPr>
              <a:t>WHY ONE PLUGIN, THREE SEPARATE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Proving you know a password and deciding who you are in the organisation are different problems.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0E4"/>
                </a:solidFill>
                <a:latin typeface="Segoe UI"/>
              </a:rPr>
              <a:t>Keeping them apart makes swapping credential login for enterprise SSO a change to one feature rather than a rewrite. The persona model does not know or care how you authenticated.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Signing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Six steps from a password to an authorization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From password to permission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3448202" cy="19888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3448202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1883664"/>
            <a:ext cx="3082442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Submit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The sign-in page posts username and password to /api/teamomf-credentials/login.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4198010" y="2539746"/>
            <a:ext cx="201168" cy="201168"/>
          </a:xfrm>
          <a:prstGeom prst="triangl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71746" y="1645920"/>
            <a:ext cx="3448202" cy="19888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71746" y="1645920"/>
            <a:ext cx="3448202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54626" y="1883664"/>
            <a:ext cx="3082442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Verify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The password is checked against a scrypt hash with a per-user salt and a constant-time comparison.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7792516" y="2539746"/>
            <a:ext cx="201168" cy="201168"/>
          </a:xfrm>
          <a:prstGeom prst="triangl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966252" y="1645920"/>
            <a:ext cx="3448202" cy="19888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966252" y="1645920"/>
            <a:ext cx="3448202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49132" y="1883664"/>
            <a:ext cx="3082442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Session cookie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A short-lived HS256 JWT is returned as an HTTP-only cookie. Page JavaScript can never read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09060"/>
            <a:ext cx="3448202" cy="19888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77240" y="3909060"/>
            <a:ext cx="3448202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0120" y="4146804"/>
            <a:ext cx="3082442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Exchange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Backstage's ProxiedSignInPage calls the 'teamomf' auth provider, which validates the cookie.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4198010" y="4802886"/>
            <a:ext cx="201168" cy="201168"/>
          </a:xfrm>
          <a:prstGeom prst="triangl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71746" y="3909060"/>
            <a:ext cx="3448202" cy="19888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71746" y="3909060"/>
            <a:ext cx="3448202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54626" y="4146804"/>
            <a:ext cx="3082442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Resolve identity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signInWithCatalogUser looks the email up against a real User entity and attaches its Group memberships to the token.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792516" y="4802886"/>
            <a:ext cx="201168" cy="201168"/>
          </a:xfrm>
          <a:prstGeom prst="triangl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966252" y="3909060"/>
            <a:ext cx="3448202" cy="19888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966252" y="3909060"/>
            <a:ext cx="3448202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49132" y="4146804"/>
            <a:ext cx="3082442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6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Authorize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TeamomfPermissionPolicy reads those memberships on every gated request. The browser never gets a say in what role it holds.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539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273"/>
                </a:solidFill>
                <a:latin typeface="Segoe UI"/>
              </a:rPr>
              <a:t>Sign-in fails if there is no matching User entity in the catalog. That is intentional: you can only log in if you genuinely appear in the TEAMOMF org chart — so the org chart cannot quietly fall behind reality.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Authorization from real catalog Group membership - no RBAC plugin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The five 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A persona IS a catalog Group. Membership comes from spec.memberOf on your User entity - the browser never gets a say.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212848"/>
          <a:ext cx="10637214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2127443"/>
                <a:gridCol w="2454741"/>
                <a:gridCol w="3927587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Persona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Group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Capabilities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Intent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developers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All 7 capabilities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Builds and operates TEAMOMF services. Full self-service.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Tech Lead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tech-leads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All 7 capabilities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Leads a service or a team. Deliberately identical to Developer - Backstage publishes no permission meaning 'approve'.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Engineering Manager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engineering-managers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template.read, catalog.entity.refresh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Oversight, not self-service. Can browse templates and fix stale entities; cannot create repositories.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Platform / DevOps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platform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All 7 capabilities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Builds and runs the portal itself.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platform-admins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All 7 capabilities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Portal administrators. Membership stays small.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Finance / People &amp; HR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finance, hr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None (read-only)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Read the catalog, APIs, docs and org chart. No write, no scaffolding.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Seven capabilities, and nothing else is gated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A capability is a named bundle of real Backstage permissions. Personas get capabilities, never individual permissions.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212848"/>
          <a:ext cx="106372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2989"/>
                <a:gridCol w="7364225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What it lets you do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11633"/>
                          </a:solidFill>
                          <a:latin typeface="Consolas"/>
                        </a:rPr>
                        <a:t>template.read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Open a software template and see its parameters and steps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11633"/>
                          </a:solidFill>
                          <a:latin typeface="Consolas"/>
                        </a:rPr>
                        <a:t>scaffolder.execute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Create a service from a template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11633"/>
                          </a:solidFill>
                          <a:latin typeface="Consolas"/>
                        </a:rPr>
                        <a:t>scaffolder.cancel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Cancel a running scaffolder task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11633"/>
                          </a:solidFill>
                          <a:latin typeface="Consolas"/>
                        </a:rPr>
                        <a:t>template.manage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Administer software templates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11633"/>
                          </a:solidFill>
                          <a:latin typeface="Consolas"/>
                        </a:rPr>
                        <a:t>catalog.entity.refresh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Force an entity to refresh from source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11633"/>
                          </a:solidFill>
                          <a:latin typeface="Consolas"/>
                        </a:rPr>
                        <a:t>catalog.entity.write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Create or delete catalog entities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11633"/>
                          </a:solidFill>
                          <a:latin typeface="Consolas"/>
                        </a:rPr>
                        <a:t>catalog.location.manage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Register or remove catalog locations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273"/>
                </a:solidFill>
                <a:latin typeface="Segoe UI"/>
              </a:rPr>
              <a:t>Reading the catalog, APIs, TechDocs, search and settings is ungated for every signed-in user — so installing a new plugin can never silently lock everybody out.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Two decisions worth defending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36192"/>
            <a:ext cx="5135727" cy="4544568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1536192"/>
            <a:ext cx="5135727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1792224"/>
            <a:ext cx="4587087" cy="4087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80"/>
                </a:solidFill>
                <a:latin typeface="Segoe UI"/>
              </a:rPr>
              <a:t>Tech Lead = Developer, on purpose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Backstage publishes no permission that expresses "approve" or "own a team".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Inventing a distinction the permission system cannot enforce would be theatre.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So the two personas are deliberately identical rather than artificially different.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536192"/>
            <a:ext cx="5135727" cy="4544568"/>
          </a:xfrm>
          <a:prstGeom prst="rect">
            <a:avLst/>
          </a:prstGeom>
          <a:solidFill>
            <a:srgbClr val="E6F4E4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536192"/>
            <a:ext cx="5135727" cy="50292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1792224"/>
            <a:ext cx="4587087" cy="4087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808"/>
                </a:solidFill>
                <a:latin typeface="Segoe UI"/>
              </a:rPr>
              <a:t>Reading is open to everyone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A portal that hides the org chart from Finance is not useful.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None of the catalog data is sensitive.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Only create, execute and destroy are gated — denials are explicit and enumerated, never a wildcard.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THE ORG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Onboarding a person is one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catalog/teamomf-org.yaml holds seven Groups and the real people in them. Managed by a CLI, not edited by hand.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66544"/>
            <a:ext cx="10637215" cy="2103120"/>
          </a:xfrm>
          <a:prstGeom prst="rect">
            <a:avLst/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066544"/>
            <a:ext cx="54864" cy="210312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8857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teamomf:user add                 # credential + org-chart entry, together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teamomf:user list                # who is provisioned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teamomf:user remove &lt;username&gt;   # remove both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teamomf:user check               # each person's persona and capabilities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4398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273"/>
                </a:solidFill>
                <a:latin typeface="Segoe UI"/>
              </a:rPr>
              <a:t>The CLI lives inside the plugin, so it hashes passwords with the exact code path the backend verifies them with. The two can never disagree about the hash format — and you can never end up with a password that resolves to nobody.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Golden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The part of the portal that changes behaviour, not just informs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SOFTWARE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Three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A template is a reviewed skeleton plus a wizard. Running one produces a real GitHub repository.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29968"/>
            <a:ext cx="3375050" cy="237744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029968"/>
            <a:ext cx="50292" cy="237744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9848" y="2231136"/>
            <a:ext cx="287213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TEAMOMF Node.js Service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Node.js 22 + Express 5 service: layered src/, /health endpoint, node:test suite, TechDocs, GitHub Actions CI, catalog-info.yaml.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8322" y="2029968"/>
            <a:ext cx="3375050" cy="237744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408322" y="2029968"/>
            <a:ext cx="50292" cy="237744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00930" y="2231136"/>
            <a:ext cx="287213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TEAMOMF REST API Service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Everything above plus an OpenAPI 3.0 contract served at /openapi.yaml and both a Component and an API entity in the catalog.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9404" y="2029968"/>
            <a:ext cx="3375050" cy="237744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39404" y="2029968"/>
            <a:ext cx="50292" cy="237744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32012" y="2231136"/>
            <a:ext cx="287213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TEAMOMF Documentation Site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TechDocs-only repository with our mkdocs.yml, docs/ layout and an ADR directory. For platform guides and standards.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SOFTWARE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What happens when you press Create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2549575" cy="23317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254957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1883664"/>
            <a:ext cx="2183815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1. Answer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Identity, ownership and repository questions. Owner and System are pickers backed by the live catalog, so a typo is impossible.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3299383" y="2711196"/>
            <a:ext cx="201168" cy="201168"/>
          </a:xfrm>
          <a:prstGeom prst="triangl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473119" y="1645920"/>
            <a:ext cx="2549575" cy="23317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473119" y="1645920"/>
            <a:ext cx="254957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55999" y="1883664"/>
            <a:ext cx="2183815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2. fetch:template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The skeleton is rendered through Nunjucks with your answers.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5995263" y="2711196"/>
            <a:ext cx="201168" cy="201168"/>
          </a:xfrm>
          <a:prstGeom prst="triangl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68999" y="1645920"/>
            <a:ext cx="2549575" cy="23317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68999" y="1645920"/>
            <a:ext cx="254957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1879" y="1883664"/>
            <a:ext cx="2183815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3. publish:github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A real GitHub repository is created and the code pushed.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8691143" y="2711196"/>
            <a:ext cx="201168" cy="201168"/>
          </a:xfrm>
          <a:prstGeom prst="triangl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864879" y="1645920"/>
            <a:ext cx="2549575" cy="233172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864879" y="1645920"/>
            <a:ext cx="254957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47759" y="1883664"/>
            <a:ext cx="2183815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4F00"/>
                </a:solidFill>
                <a:latin typeface="Segoe UI"/>
              </a:rPr>
              <a:t>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000080"/>
                </a:solidFill>
                <a:latin typeface="Segoe UI"/>
              </a:rPr>
              <a:t>4. catalog:register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A5273"/>
                </a:solidFill>
                <a:latin typeface="Segoe UI"/>
              </a:rPr>
              <a:t>The new catalog-info.yaml is registered, so the service appears in the portal immediately.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3367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273"/>
                </a:solidFill>
                <a:latin typeface="Segoe UI"/>
              </a:rPr>
              <a:t>Owner and System are pickers backed by the live catalog, so a typo is impossible. The new service appears in the portal immediately, already owned, already documented, already running CI.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SOFTWARE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What the skeletons already contain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A service created from a template has a green CI run before anyone writes a line of business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10271455" cy="405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A layered src/ — routes, domain, validation, middleware, store — rather than one large file.</a:t>
            </a:r>
          </a:p>
          <a:p>
            <a:pPr algn="l"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A /health endpoint, because CI smoke tests and deployment probes both need one.</a:t>
            </a:r>
          </a:p>
          <a:p>
            <a:pPr algn="l"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Tests using the built-in node:test runner — zero test framework dependencies.</a:t>
            </a:r>
          </a:p>
          <a:p>
            <a:pPr algn="l"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mkdocs.yml and docs/, so TechDocs works on the first commit.</a:t>
            </a:r>
          </a:p>
          <a:p>
            <a:pPr algn="l"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A GitHub Actions workflow: run tests, boot the real entry point, curl /health, then build docs with --strict.</a:t>
            </a:r>
          </a:p>
          <a:p>
            <a:pPr algn="l"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A catalog-info.yaml wired to the owner and system you picked.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933"/>
                </a:solidFill>
                <a:latin typeface="Segoe UI"/>
              </a:rPr>
              <a:t>WHY THIS IS THE HIGHEST-LEVERAGE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Conventions on a wiki page decay, because following them is work and skipping them is free.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0E4"/>
                </a:solidFill>
                <a:latin typeface="Segoe UI"/>
              </a:rPr>
              <a:t>Conventions encoded in a template are the path of least resistance. The new service is correct because doing it correctly was the fastest option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Docs, home and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The everyday surface of the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TECHDOCS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TechDocs: docs-as-code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36192"/>
            <a:ext cx="5135727" cy="4544568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1536192"/>
            <a:ext cx="5135727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1792224"/>
            <a:ext cx="4587087" cy="4087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80"/>
                </a:solidFill>
                <a:latin typeface="Segoe UI"/>
              </a:rPr>
              <a:t>How it works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Markdown plus mkdocs.yml in the service repository.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The entity points at it with backstage.io/techdocs-ref.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The portal builds and serves it; the collator indexes it into search.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536192"/>
            <a:ext cx="5135727" cy="4544568"/>
          </a:xfrm>
          <a:prstGeom prst="rect">
            <a:avLst/>
          </a:prstGeom>
          <a:solidFill>
            <a:srgbClr val="E6F4E4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536192"/>
            <a:ext cx="5135727" cy="50292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1792224"/>
            <a:ext cx="4587087" cy="4087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808"/>
                </a:solidFill>
                <a:latin typeface="Segoe UI"/>
              </a:rPr>
              <a:t>Why it stops rotting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Docs are in the same pull request as the code, so "update the docs" stops being a ticket nobody picks up.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CI runs mkdocs build --strict, so a dead internal link fails the build.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A5273"/>
                </a:solidFill>
                <a:latin typeface="Segoe UI"/>
              </a:rPr>
              <a:t>—   One search box covers both code inventory and documentation.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The home page: eleven live widgets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Laid out in app-config.yaml, so the layout is configuration rather than code.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011680"/>
          <a:ext cx="10637214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2989"/>
                <a:gridCol w="7364225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Widget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Shows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Search bar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Catalog + TechDocs in one box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Overview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Greets the user, live catalog totals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Quick actions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Shortcuts into catalog, APIs, docs, scaffolder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Your role &amp; access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Live persona and real ALLOW/DENY decisions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Owned by you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Entities owned by you or your groups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Starred entities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Your bookmarks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Services &amp; components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Components in the catalog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APIs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API entities in the catalog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Documentation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Entities publishing TechDocs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Software templates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Templates you can run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Source repositories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Real GitHub repos linked from entities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273"/>
                </a:solidFill>
                <a:latin typeface="Segoe UI"/>
              </a:rPr>
              <a:t>Every widget renders live data. Where there is nothing to show, the card says so and explains what would make real data appear.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933"/>
                </a:solidFill>
                <a:latin typeface="Segoe UI"/>
              </a:rPr>
              <a:t>THE WIDGET WORTH POINTING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"Your role &amp; access" asks the real permission API at render time and shows the actual ALLOW or DENY.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0E4"/>
                </a:solidFill>
                <a:latin typeface="Segoe UI"/>
              </a:rPr>
              <a:t>It is not a static list of what your role should allow. If you are ever unsure whether you can do something, that card answers it authoritatively — and it makes the persona model visible instead of mysterious.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Look and feel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One token file, no colour literals in components. India-inspired but restrained: saffron and green are never large surfaces.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212848"/>
          <a:ext cx="10637214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1800144"/>
                <a:gridCol w="6709627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Token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Used for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11633"/>
                          </a:solidFill>
                          <a:latin typeface="Segoe UI"/>
                        </a:rPr>
                        <a:t>navy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#000080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Primary application colour, from the Ashoka Chakra blue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11633"/>
                          </a:solidFill>
                          <a:latin typeface="Segoe UI"/>
                        </a:rPr>
                        <a:t>navySurface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#0A0A3D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Sidebar and other dark chrome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11633"/>
                          </a:solidFill>
                          <a:latin typeface="Segoe UI"/>
                        </a:rPr>
                        <a:t>saffron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#FF9933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Accent only: selection, focus, emphasis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11633"/>
                          </a:solidFill>
                          <a:latin typeface="Segoe UI"/>
                        </a:rPr>
                        <a:t>saffronText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#9A4F00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Darkened saffron reaching 4.5:1 on white, for text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11633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#138808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Success and positive state only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11633"/>
                          </a:solidFill>
                          <a:latin typeface="Segoe UI"/>
                        </a:rPr>
                        <a:t>canvas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#F5F7FB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A5273"/>
                          </a:solidFill>
                          <a:latin typeface="Segoe UI"/>
                        </a:rPr>
                        <a:t>Page background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273"/>
                </a:solidFill>
                <a:latin typeface="Segoe UI"/>
              </a:rPr>
              <a:t>The separate saffronText token exists because #FF9933 does not meet contrast requirements as text. Accessibility was designed in, not retrofitted.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Reference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teamomf-orders-service - the pattern the templates encode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REFERENCE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The Orders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Node.js 22, Express 5. The catalog pulls this contract live from openapi.yaml in the repository, so it cannot drift from what ships.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212848"/>
          <a:ext cx="10637213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195"/>
                <a:gridCol w="2454741"/>
                <a:gridCol w="6873277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Path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/orders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List orders; supports status, limit (1-100) and offset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/orders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Create an order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/orders/{id}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Fetch one order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PUT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/orders/{id}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Update contents and/or status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/orders/{id}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Delete an order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/health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Liveness and readiness probe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/metrics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Request, order and process counters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Consolas"/>
                        </a:rPr>
                        <a:t>/openapi.yaml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The service's own OpenAPI 3.0 document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REFERENCE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Patterns the templates inherited from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Known limitation, stated plainly: orders do not survive a restart. Replacing src/store/orderStore.js is all that is needed to move to a real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271455" cy="3858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Layered source: routes, domain, validation, middleware, store, errors.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Server-generated fields — id, totalAmount, createdAt, updatedAt — are never accepted from the client; line totals are recomputed, not trusted.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One ApiError type and one error-handling middleware, so every error response has the same shape.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The service serves its own OpenAPI document — contract and implementation ship together.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11633"/>
                </a:solidFill>
                <a:latin typeface="Segoe UI"/>
              </a:rPr>
              <a:t>—   An ADR directory recording why decisions were made, including why the store is in-memory.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Security and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A small credential store is exactly why the details 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Eight real controls, not decoration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499616"/>
          <a:ext cx="10637214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690"/>
                <a:gridCol w="7691524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scrypt, not plaintext or MD5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Per-password random salt, 64-byte key, self-describing versioned hash so the scheme can be rotated.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Constant-time comparison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 failed check cannot leak how much of the hash matched.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Decoy hash on unknown users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An unknown username costs the same time as a real one, so the endpoint does not leak which accounts exist.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Login throttle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10 failures then a 5-minute block. Without it /login is an unbounded password oracle.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HTTP-only session cookie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Not readable by page JavaScript, so XSS cannot exfiltrate the session.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No self-asserted roles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Authorization comes only from catalog Group membership carried on the identity token.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Fail-closed on typos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An unknown capability name in app-config.yaml fails backend startup rather than silently granting the wrong thing.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Default-allow on reads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Only create/execute/destroy is gated, so installing a new plugin can never silently lock everybody out.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273"/>
                </a:solidFill>
                <a:latin typeface="Segoe UI"/>
              </a:rPr>
              <a:t>One honest caveat: the login throttle is per-process and in-memory. Fine for a single backend, inadequate for multiple replicas — it should move to the shared cache service.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Where the tests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The tests concentrate on the parts we wrote, which is where the risk is.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011680"/>
          <a:ext cx="10637214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288"/>
                <a:gridCol w="7036926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Suite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Covers</a:t>
                      </a:r>
                    </a:p>
                  </a:txBody>
                  <a:tcPr marL="109728" marR="91440" marT="45720" marB="45720" anchor="ctr">
                    <a:solidFill>
                      <a:srgbClr val="00008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password.test.ts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Hashing and verification, including malformed hashes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session.test.ts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Session token signing, verification and expiry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CredentialsStore.test.ts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Credential persistence and migrations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loginThrottle.test.ts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Failure counting, blocking and expiry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TeamomfPermissionPolicy.test.ts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Persona resolution and ALLOW/DENY decisions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orgCatalog.test.ts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Org chart YAML generation and removal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App.test.tsx / app.test.ts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Frontend render, and a Playwright e2e smoke test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633"/>
                          </a:solidFill>
                          <a:latin typeface="Segoe UI"/>
                        </a:rPr>
                        <a:t>orders.test.js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A5273"/>
                          </a:solidFill>
                          <a:latin typeface="Segoe UI"/>
                        </a:rPr>
                        <a:t>Orders Service API, no test framework dependency</a:t>
                      </a:r>
                    </a:p>
                  </a:txBody>
                  <a:tcPr marL="109728" marR="91440" marT="45720" marB="45720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A4AB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48716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56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0E4"/>
                </a:solidFill>
                <a:latin typeface="Segoe UI"/>
              </a:rPr>
              <a:t>What to do in your first hour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310128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GETTING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Your first hour, by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If sign-in fails, you are probably not in the org chart yet — ask Platform to run yarn teamomf:user add.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29968"/>
            <a:ext cx="5190591" cy="1897379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029968"/>
            <a:ext cx="50292" cy="1897379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9848" y="2231136"/>
            <a:ext cx="4687671" cy="153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Everyone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Sign in. Read your "Your role &amp; access" card — believe it over any document, including this deck. Star what you own. Search for something you already know exists.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3863" y="2029968"/>
            <a:ext cx="5190591" cy="1897379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23863" y="2029968"/>
            <a:ext cx="50292" cy="1897379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6471" y="2231136"/>
            <a:ext cx="4687671" cy="153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Developers &amp; tech leads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Register your service with a catalog-info.yaml. Include project-slug and techdocs-ref. Run the Node.js template once, end to end. Move your docs into the repo.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83379"/>
            <a:ext cx="5190591" cy="1897379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77240" y="4183379"/>
            <a:ext cx="50292" cy="1897379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9848" y="4384547"/>
            <a:ext cx="4687671" cy="153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Engineering managers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Filter the catalog by owner to see what each team is accountable for. Browse the templates to know what standards new services inherit. Refresh a stale entity.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4183379"/>
            <a:ext cx="5190591" cy="1897379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23863" y="4183379"/>
            <a:ext cx="50292" cy="1897379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16471" y="4384547"/>
            <a:ext cx="4687671" cy="153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Platform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A5273"/>
                </a:solidFill>
                <a:latin typeface="Segoe UI"/>
              </a:rPr>
              <a:t>Own the persona model — it is configuration, not code. Own the templates: a convention change is a template change. Onboard people with the CLI, then verify with check.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GETTING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Running it locally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10637215" cy="2724912"/>
          </a:xfrm>
          <a:prstGeom prst="rect">
            <a:avLst/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54864" cy="272491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10088575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install            # workspace dependencies (Node 22 or 24)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start              # frontend on :3000, backend on :7007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teamomf:user add   # provision yourself before first sign-in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test               # unit tests across the repo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tsc                # type-check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yarn test:e2e           # Playwright end-to-end test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3FF"/>
                </a:solidFill>
                <a:latin typeface="Consolas"/>
              </a:rPr>
              <a:t>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537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273"/>
                </a:solidFill>
                <a:latin typeface="Segoe UI"/>
              </a:rPr>
              <a:t>Local state — catalog entities, credentials, TechDocs — lives in a file-backed SQLite database under .data/db rather than in memory, so it survives a backend restart. You do not lose your login every time you restart the backend.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"/>
            <a:ext cx="3291840" cy="5029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TEAMOMF Developer Portal  |  Backstage 1.54.0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2BC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4F00"/>
                </a:solidFill>
                <a:latin typeface="Segoe U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80"/>
                </a:solidFill>
                <a:latin typeface="Segoe UI"/>
              </a:rPr>
              <a:t>What comes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73"/>
                </a:solidFill>
                <a:latin typeface="Segoe UI"/>
              </a:rPr>
              <a:t>Stated as work, not as a wish 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29968"/>
            <a:ext cx="337505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029968"/>
            <a:ext cx="50292" cy="201168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9848" y="2231136"/>
            <a:ext cx="287213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Move off SQLite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A5273"/>
                </a:solidFill>
                <a:latin typeface="Segoe UI"/>
              </a:rPr>
              <a:t>app-config.production.yaml already points at PostgreSQL; the file-backed SQLite database is a local-development choice.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8322" y="2029968"/>
            <a:ext cx="337505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408322" y="2029968"/>
            <a:ext cx="50292" cy="201168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00930" y="2231136"/>
            <a:ext cx="287213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External TechDocs publishing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A5273"/>
                </a:solidFill>
                <a:latin typeface="Segoe UI"/>
              </a:rPr>
              <a:t>Build docs in CI and publish to object storage instead of generating on the portal host.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9404" y="2029968"/>
            <a:ext cx="337505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39404" y="2029968"/>
            <a:ext cx="50292" cy="201168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32012" y="2231136"/>
            <a:ext cx="287213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Shared login throttle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A5273"/>
                </a:solidFill>
                <a:latin typeface="Segoe UI"/>
              </a:rPr>
              <a:t>The throttle is per-process and in-memory; a multi-replica deployment should move it to the shared cache service.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97680"/>
            <a:ext cx="337505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77240" y="4297680"/>
            <a:ext cx="50292" cy="201168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69848" y="4498848"/>
            <a:ext cx="287213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Enterprise SSO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A5273"/>
                </a:solidFill>
                <a:latin typeface="Segoe UI"/>
              </a:rPr>
              <a:t>Credential login is a working baseline; the auth provider seam is where an OIDC provider would slot 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8322" y="4297680"/>
            <a:ext cx="337505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408322" y="4297680"/>
            <a:ext cx="50292" cy="201168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700930" y="4498848"/>
            <a:ext cx="287213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Grow the catalog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A5273"/>
                </a:solidFill>
                <a:latin typeface="Segoe UI"/>
              </a:rPr>
              <a:t>Every new service arrives with a catalog-info.yaml because the templates emit one. Coverage grows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9404" y="4297680"/>
            <a:ext cx="337505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9404" y="4297680"/>
            <a:ext cx="50292" cy="201168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32012" y="4498848"/>
            <a:ext cx="287213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80"/>
                </a:solidFill>
                <a:latin typeface="Segoe UI"/>
              </a:rPr>
              <a:t>Fill the org chart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A5273"/>
                </a:solidFill>
                <a:latin typeface="Segoe UI"/>
              </a:rPr>
              <a:t>Two people are registered today. `yarn teamomf:user add` onboards the rest, one real person at a time.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933"/>
                </a:solidFill>
                <a:latin typeface="Segoe UI"/>
              </a:rPr>
              <a:t>HOW THIS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The portal gets more useful as the catalog gets more complete — and the catalog completes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1463040" cy="4114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0E4"/>
                </a:solidFill>
                <a:latin typeface="Segoe UI"/>
              </a:rPr>
              <a:t>Every service created from a template arrives already registered, already documented, already owned. The work is front-loaded into the templates. That is the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D77AE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703320"/>
            <a:ext cx="2011680" cy="4572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80160" y="4023360"/>
            <a:ext cx="8961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FEA"/>
                </a:solidFill>
                <a:latin typeface="Segoe UI"/>
              </a:rPr>
              <a:t>Corrections and additions welcome — this describes a portal that is still being built.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C9CFEA"/>
                </a:solidFill>
                <a:latin typeface="Segoe UI"/>
              </a:rPr>
              <a:t>The catalog is only ever as good as what we put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8064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98C4"/>
                </a:solidFill>
                <a:latin typeface="Segoe UI"/>
              </a:rPr>
              <a:t>Dhanush Singamala - Platform Engineering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